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6500" y="6496050"/>
            <a:ext cx="2095500" cy="3619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0" y="0"/>
            <a:ext cx="2667000" cy="8382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" y="1504950"/>
            <a:ext cx="5534025" cy="7810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" y="2600325"/>
            <a:ext cx="5534025" cy="7810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" y="3695700"/>
            <a:ext cx="5534025" cy="7810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900" y="4791075"/>
            <a:ext cx="5534025" cy="7810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15075" y="1752600"/>
            <a:ext cx="5534025" cy="11906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15075" y="3095625"/>
            <a:ext cx="5534025" cy="11906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15075" y="4438650"/>
            <a:ext cx="5534025" cy="11906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15100" y="2066032"/>
            <a:ext cx="304800" cy="3048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15100" y="3409057"/>
            <a:ext cx="304800" cy="3048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15100" y="4653111"/>
            <a:ext cx="304800" cy="3048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0"/>
            <a:ext cx="12192000" cy="8382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6496050"/>
            <a:ext cx="12192000" cy="3619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81000" y="200025"/>
            <a:ext cx="7803162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250" i="0" u="none">
                <a:solidFill>
                  <a:srgbClr val="FFFFFF"/>
                </a:solidFill>
                <a:latin typeface="Inter"/>
              </a:rPr>
              <a:t>Automation of </a:t>
            </a:r>
            <a:r>
              <a:rPr b="1" sz="2250" i="0" u="none">
                <a:solidFill>
                  <a:srgbClr val="DB0011"/>
                </a:solidFill>
                <a:latin typeface="Inter"/>
              </a:rPr>
              <a:t>IWPB Wealth Management Sales, China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81000" y="600075"/>
            <a:ext cx="571500" cy="38100"/>
          </a:xfrm>
          <a:prstGeom prst="roundRect">
            <a:avLst>
              <a:gd name="adj" fmla="val 50000"/>
            </a:avLst>
          </a:prstGeom>
          <a:solidFill>
            <a:srgbClr val="DB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096500" y="219075"/>
            <a:ext cx="2095500" cy="619125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6067425" y="11620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DB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067425" y="61912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DB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4850" y="1066800"/>
            <a:ext cx="2601418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A8000B"/>
                </a:solidFill>
                <a:latin typeface="Inter"/>
              </a:rPr>
              <a:t>Data Analytics Workflow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7025" y="1066800"/>
            <a:ext cx="5430678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A8000B"/>
                </a:solidFill>
                <a:latin typeface="Inter"/>
              </a:rPr>
              <a:t>AI- Powered Scenarios with HSBC Productivity Suite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42900" y="1066800"/>
            <a:ext cx="247650" cy="24765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52425" y="1514475"/>
            <a:ext cx="685800" cy="7620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057525" y="2381250"/>
            <a:ext cx="104775" cy="13335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52425" y="2609850"/>
            <a:ext cx="685800" cy="76200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057525" y="3476625"/>
            <a:ext cx="104775" cy="13335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52425" y="3705225"/>
            <a:ext cx="685800" cy="76200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057525" y="4572000"/>
            <a:ext cx="104775" cy="13335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52425" y="4800600"/>
            <a:ext cx="685800" cy="76200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315075" y="1190625"/>
            <a:ext cx="247650" cy="24765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85787" y="1771650"/>
            <a:ext cx="219075" cy="24765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209675" y="1704975"/>
            <a:ext cx="16192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11827"/>
                </a:solidFill>
                <a:latin typeface="Inter"/>
              </a:rPr>
              <a:t>1. DSW &amp; HUB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09675" y="1933575"/>
            <a:ext cx="16192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4B5563"/>
                </a:solidFill>
                <a:latin typeface="Inter Medium"/>
              </a:rPr>
              <a:t>Extract sales, RPQ, SFP data</a:t>
            </a: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85787" y="2867025"/>
            <a:ext cx="219075" cy="24765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209675" y="2800350"/>
            <a:ext cx="26860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11827"/>
                </a:solidFill>
                <a:latin typeface="Inter"/>
              </a:rPr>
              <a:t>2. Python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09675" y="3028950"/>
            <a:ext cx="26860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4B5563"/>
                </a:solidFill>
                <a:latin typeface="Inter Medium"/>
              </a:rPr>
              <a:t>Data transformation and exception generation</a:t>
            </a:r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71500" y="3962400"/>
            <a:ext cx="247650" cy="24765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1209675" y="3895725"/>
            <a:ext cx="21907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11827"/>
                </a:solidFill>
                <a:latin typeface="Inter"/>
              </a:rPr>
              <a:t>3. China Database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09675" y="4124325"/>
            <a:ext cx="21907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4B5563"/>
                </a:solidFill>
                <a:latin typeface="Inter Medium"/>
              </a:rPr>
              <a:t>Centralized Repository for dashboard</a:t>
            </a:r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57212" y="5057775"/>
            <a:ext cx="276225" cy="24765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1209675" y="4991100"/>
            <a:ext cx="254317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11827"/>
                </a:solidFill>
                <a:latin typeface="Inter"/>
              </a:rPr>
              <a:t>4. DS Dashboard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09675" y="5219700"/>
            <a:ext cx="25431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4B5563"/>
                </a:solidFill>
                <a:latin typeface="Inter Medium"/>
              </a:rPr>
              <a:t>Monthly business intelligence and analytics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53250" y="2046982"/>
            <a:ext cx="3162300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1" sz="1200" i="0" u="none">
                <a:solidFill>
                  <a:srgbClr val="111827"/>
                </a:solidFill>
                <a:latin typeface="Inter"/>
              </a:rPr>
              <a:t>Mapping of Regulations with RCM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53250" y="2302222"/>
            <a:ext cx="3162300" cy="3464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975" i="0" u="none">
                <a:solidFill>
                  <a:srgbClr val="4B5563"/>
                </a:solidFill>
                <a:latin typeface="Inter"/>
              </a:rPr>
              <a:t>Use HPS to map Chinese Regulations to RCM in English, check regulation coverage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53250" y="3390007"/>
            <a:ext cx="3276600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1" sz="1200" i="0" u="none">
                <a:solidFill>
                  <a:srgbClr val="111827"/>
                </a:solidFill>
                <a:latin typeface="Inter"/>
              </a:rPr>
              <a:t>Complaints Case to Identify Misconduct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53250" y="3645247"/>
            <a:ext cx="3276600" cy="3464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975" i="0" u="none">
                <a:solidFill>
                  <a:srgbClr val="4B5563"/>
                </a:solidFill>
                <a:latin typeface="Inter"/>
              </a:rPr>
              <a:t>to analyze complaints cases and identify potential sales behavior patterns.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53250" y="4634061"/>
            <a:ext cx="3181350" cy="396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1" sz="1200" i="0" u="none">
                <a:solidFill>
                  <a:srgbClr val="111827"/>
                </a:solidFill>
                <a:latin typeface="Inter"/>
              </a:rPr>
              <a:t>Extract Key Information from WDC (Wealth Document Center)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53250" y="5087391"/>
            <a:ext cx="3181350" cy="3464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975" i="0" u="none">
                <a:solidFill>
                  <a:srgbClr val="4B5563"/>
                </a:solidFill>
                <a:latin typeface="Inter"/>
              </a:rPr>
              <a:t>to extract key asset/income information from documents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